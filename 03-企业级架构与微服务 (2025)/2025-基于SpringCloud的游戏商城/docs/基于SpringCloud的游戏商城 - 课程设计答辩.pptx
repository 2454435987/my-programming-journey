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各位老师、同学大家好，我是来自25gbs计算1班的吴琦，我的学号是20253035102。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今天我答辩的题目是《基于SpringCloud的游戏商城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》。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本项目在杨红祥老师的指导下完成，旨在利用微服务架构构建一个高可用、易扩展的游戏交易平台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本页展示了项目采用的核心开发技术，包括基础框架、服务治理、远程调用、数据库及前端技术，均为当前主流且成熟的技术选型。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SpringBoot 3.0：作为项目的基础框架，简化开发与配置。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Nacos 2.2：承担服务注册与发现的核心职责。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OpenFeign 4.0：实现服务间的远程接口调用。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MySQL 8.0：作为核心数据库存储业务数据。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Layui + Thymeleaf：完成前端界面开发与页面渲染。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本页介绍了项目的开发背景，分为业务和技术两个维度。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业务上，游戏产业蓬勃发展，虚拟资产交易需求旺盛，但当前市场缺乏专业安全的担保平台，C2C交易欺诈风险高，玩家闲置资产也难以流转，这是我们项目的核心切入点。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技术上，面对热门道具抢购等高并发场景，传统单体架构易崩溃且扩展困难，而Spring Cloud微服务架构能实现服务解耦，便于横向扩展和维护，已成为行业主流趋势，这也是我们技术选型的重要依据。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这一页展示了系统的整体功能模块架构，采用了树状结构清晰地划分了三大核心角色的功能边界。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左侧是系统管理员模块，作为系统的核心控制层，负责用户权限、商品审核、财务监控以及基础内容配置，确保平台的安全与合规运营。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中间是核心的普通用户模块，我们采用了突出显示的设计，因为用户兼具买家和卖家双重身份。功能涵盖了基础信息管理、完整的购物闭环体验、闲置资产的挂售流程以及丰富的互动评价体系，构成了平台的业务主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右侧是游客模块，主要提供开放式的浏览功能，降低准入门槛，并提供便捷的转化引导，为平台引流和用户增长提供支持。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整体架构层次分明，角色分工明确，确保了系统功能的完整性和用户体验的流畅性。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本页展示了系统的核心用例图，主要分为普通用户和系统管理员两大角色。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普通用户角色分为买家和卖家：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- 买家：涵盖了从账号注册、浏览搜索、购物车管理、下单支付到售后评价的完整闭环流程。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- 卖家：侧重于闲置资产的发布、商品管理、订单查询以及虚拟道具的发货交割。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系统管理员角色：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- 主要负责平台的后台支撑，包括用户权限管控、商品合规审核、全局交易监控以及系统内容配置。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通过明确的角色划分和用例梳理，确保了系统功能的完整性和操作流程的规范性。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本页展示了系统的核心数据库E-R图设计，主要包含实体定义与关系映射两个部分。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左侧列出了系统的9大核心实体表，涵盖了用户、角色、商品、订单、购物车、地址、评论、收藏及系统配置，构成了系统的基础数据骨架。每个表都有明确的职责边界，确保数据存储的规范性。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关键的业务关系，均采用N:1的关联模式。例如用户与角色的绑定实现了权限控制，商品与卖家的关联明确了商品归属，订单与买卖双方的双重关联构建了完整的交易闭环。同时，评论、收藏等互动数据与核心实体的关联，为用户体验和系统运营提供了数据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本页详细介绍了系统的核心功能实现，分为前台商城和后台管理两个维度。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前台功能聚焦于用户体验和交易闭环：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基础账号体系：通过加密和Session管理确保安全。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浏览与交互：实现了商品展示、详情查看、购物车金额服务端计算等功能，确保数据安全。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交易闭环：支持闲置挂售、订单结算、资产转移等完整流程。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个人中心：集成了用户所有行为管理入口。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后台功能聚焦于运营管控：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用户管理：实现了权限分配和违规处理。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商品审核：保障平台交易内容的合规性。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订单监控：全流程追踪确保资金和资产安全。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系统配置：提供了灵活的参数调整能力。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本页通过两段核心Java代码，展示了项目在“源码和数据处理”层面的两个关键亮点。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购物车结算的核心逻辑（CartController）。我们模拟了真实的服务端计算流程：通过Feign调用获取购物车数据和商品实时价格，使用BigDecimal进行高精度累加，最终返回结算金额。这种设计的核心价值在于“服务端重算”，彻底规避了前端参数被篡改的风险，保障了金额计算的准确性和安全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订单发货的处理逻辑（OrderController）。代码展示了从更新订单状态到扣减商品库存的完整流程。通过自动化的代码逻辑，实现了“发货即交割”，确保订单发货操作与虚拟资产（库存）的扣减同步完成，保障了业务数据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本页展示了项目中“订单发货与资产自动交割”的具体实现。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页面延续了浅色背景、深棕色主标题与橙黄色小标题的配色风格，与整体视觉保持统一。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通过新的代码截图完整呈现了核心逻辑，直观展示了订单发货与资产交割的业务流。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底部说明进一步强调了该功能“发货即交割”的自动化与数据一致性价值。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这一页是对整个项目的总结与收获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首先在学习收获方面，我深入掌握了Spring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Cloud微服务架构，熟练使用了Nacos和OpenFeign等核心组件，同时在数据库设计优化和前后端联调方面积累了宝贵经验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在项目过程中，我也遇到了不少挑战，比如微服务数据一致性、复杂的购物车业务逻辑、分布式事务处理以及前端性能优化等问题。通过查阅资料和不断调试，我逐一攻克了这些难题。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最后是心得体会，这次项目让我深刻体会到理论结合实践的重要性，锻炼了独立解决问题的能力，也让我对软件工程的完整流程有了更清晰的认识，为未来的学习和工作打下了坚实的基础。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179705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基于SpringCloud的游戏商城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381000" y="332105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 dirty="0" err="1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课程设计答辩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81000" y="5588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5D4037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吴琦</a:t>
            </a:r>
            <a:r>
              <a:rPr lang="en-US" sz="1600" b="0" i="0" u="none" strike="noStrike" dirty="0">
                <a:solidFill>
                  <a:srgbClr val="5D4037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| 25gbs计算1班 | </a:t>
            </a:r>
            <a:r>
              <a:rPr lang="en-US" sz="1600" b="0" i="0" u="none" strike="noStrike" dirty="0" err="1">
                <a:solidFill>
                  <a:srgbClr val="5D4037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指导教师：杨红祥</a:t>
            </a:r>
            <a:endParaRPr lang="en-US" sz="1100" dirty="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 dirty="0" err="1">
                <a:solidFill>
                  <a:srgbClr val="5D4037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湖北工业大学工程技术学院</a:t>
            </a:r>
            <a:r>
              <a:rPr lang="en-US" sz="1600" b="0" i="0" u="none" strike="noStrike" dirty="0">
                <a:solidFill>
                  <a:srgbClr val="5D4037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|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5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D4037">
                <a:alpha val="2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5D40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SpringBoot 3.0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基础框架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D4037">
                <a:alpha val="2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5D40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99000" y="2032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Nacos 2.2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服务注册中心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1651000"/>
            <a:ext cx="3302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D4037">
                <a:alpha val="2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5D40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82000" y="2032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OpenFeign 4.0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远程接口调用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524000" y="4699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D4037">
                <a:alpha val="2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5D40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524000" y="4699000"/>
            <a:ext cx="457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778000" y="5016500"/>
            <a:ext cx="40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0" y="4699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D4037">
                <a:alpha val="2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5D403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0" y="4699000"/>
            <a:ext cx="457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112000" y="5016500"/>
            <a:ext cx="40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Layui + Thymeleaf</a:t>
            </a:r>
            <a:endParaRPr lang="en-US" sz="1100"/>
          </a:p>
          <a:p>
            <a:pPr marL="0" indent="0" algn="ctr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开发背景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270000" y="2286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70000" y="2286000"/>
            <a:ext cx="431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游戏产业蓬勃发展，玩家基数持续增长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虚拟资产（装备、道具、账号）交易需求旺盛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缺乏专业、安全、规范的担保交易平台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C2C交易信任问题突出，欺诈风险高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玩家闲置虚拟资产无法有效流转</a:t>
            </a:r>
          </a:p>
        </p:txBody>
      </p:sp>
      <p:sp>
        <p:nvSpPr>
          <p:cNvPr id="5" name="AutoShape 5"/>
          <p:cNvSpPr/>
          <p:nvPr/>
        </p:nvSpPr>
        <p:spPr>
          <a:xfrm>
            <a:off x="6731000" y="2286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技术背景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31000" y="2286000"/>
            <a:ext cx="431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热门道具抢购等高并发场景挑战大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传统单体架构遇流量洪峰易崩溃</a:t>
            </a:r>
            <a:endParaRPr lang="en-US" sz="16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单体架构后期业务扩展困难</a:t>
            </a:r>
            <a:endParaRPr lang="en-US" sz="16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</a:t>
            </a:r>
            <a:r>
              <a:rPr lang="en-US" sz="16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Cloud微服务成行业主流趋势</a:t>
            </a:r>
            <a:endParaRPr lang="en-US" sz="16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 dirty="0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6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服务解耦，便于横向扩展和维护</a:t>
            </a:r>
            <a:endParaRPr lang="en-US" sz="16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444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系统功能图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1" r="31"/>
          <a:stretch>
            <a:fillRect/>
          </a:stretch>
        </p:blipFill>
        <p:spPr>
          <a:xfrm>
            <a:off x="3911600" y="1206500"/>
            <a:ext cx="4381500" cy="5257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2159000"/>
            <a:ext cx="203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用例图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两大角色</a:t>
            </a:r>
          </a:p>
        </p:txBody>
      </p:sp>
      <p:sp>
        <p:nvSpPr>
          <p:cNvPr id="3" name="AutoShape 3"/>
          <p:cNvSpPr/>
          <p:nvPr/>
        </p:nvSpPr>
        <p:spPr>
          <a:xfrm>
            <a:off x="3048000" y="317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17" b="417"/>
          <a:stretch>
            <a:fillRect/>
          </a:stretch>
        </p:blipFill>
        <p:spPr>
          <a:xfrm>
            <a:off x="3771900" y="1206500"/>
            <a:ext cx="2108200" cy="533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858000" y="317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255" r="255"/>
          <a:stretch>
            <a:fillRect/>
          </a:stretch>
        </p:blipFill>
        <p:spPr>
          <a:xfrm>
            <a:off x="7493000" y="1206500"/>
            <a:ext cx="2286000" cy="533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54000"/>
            <a:ext cx="1117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数据库E-R图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2" r="32"/>
          <a:stretch>
            <a:fillRect/>
          </a:stretch>
        </p:blipFill>
        <p:spPr>
          <a:xfrm>
            <a:off x="2940619" y="859499"/>
            <a:ext cx="6267532" cy="53587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9715500"/>
            <a:ext cx="1117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D4037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9张核心数据表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778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前台功能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8E1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2413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注册登录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782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8E1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378200" y="2413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购物交易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484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8E1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48400" y="2413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闲置挂售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18600" y="241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8E1">
              <a:alpha val="100000"/>
            </a:srgbClr>
          </a:solidFill>
          <a:ln w="12700" cap="flat" cmpd="sng">
            <a:solidFill>
              <a:srgbClr val="FFB3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118600" y="2413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评价收藏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4445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后台功能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5F1ED">
              <a:alpha val="100000"/>
            </a:srgbClr>
          </a:solidFill>
          <a:ln w="12700" cap="flat" cmpd="sng">
            <a:solidFill>
              <a:srgbClr val="5D40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08000" y="5080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782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5F1ED">
              <a:alpha val="100000"/>
            </a:srgbClr>
          </a:solidFill>
          <a:ln w="12700" cap="flat" cmpd="sng">
            <a:solidFill>
              <a:srgbClr val="5D40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378200" y="5080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商品审核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484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5F1ED">
              <a:alpha val="100000"/>
            </a:srgbClr>
          </a:solidFill>
          <a:ln w="12700" cap="flat" cmpd="sng">
            <a:solidFill>
              <a:srgbClr val="5D40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48400" y="5080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订单监控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18600" y="5080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5F1ED">
              <a:alpha val="100000"/>
            </a:srgbClr>
          </a:solidFill>
          <a:ln w="12700" cap="flat" cmpd="sng">
            <a:solidFill>
              <a:srgbClr val="5D40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118600" y="5080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系统配置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1016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亮点1：购物车高精度防篡改结算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en-US" sz="2400" b="1" i="0" u="none" strike="noStrike" dirty="0" err="1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源码</a:t>
            </a:r>
            <a:r>
              <a:rPr lang="zh-CN" altLang="en-US" sz="2400" b="1" i="0" u="none" strike="noStrike" dirty="0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2400" b="1" i="0" u="none" strike="noStrike" dirty="0" err="1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项目功能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22694" y="1733742"/>
            <a:ext cx="7407105" cy="447666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308" y="1514475"/>
            <a:ext cx="7283383" cy="475457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3">
            <a:extLst>
              <a:ext uri="{FF2B5EF4-FFF2-40B4-BE49-F238E27FC236}">
                <a16:creationId xmlns:a16="http://schemas.microsoft.com/office/drawing/2014/main" id="{35F9ACF5-2B1B-ED4E-4EAC-4C274F0D3D1C}"/>
              </a:ext>
            </a:extLst>
          </p:cNvPr>
          <p:cNvSpPr/>
          <p:nvPr/>
        </p:nvSpPr>
        <p:spPr>
          <a:xfrm>
            <a:off x="381000" y="371475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en-US" sz="2400" b="1" i="0" u="none" strike="noStrike" dirty="0" err="1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源码</a:t>
            </a:r>
            <a:r>
              <a:rPr lang="zh-CN" altLang="en-US" sz="2400" b="1" i="0" u="none" strike="noStrike" dirty="0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2400" b="1" i="0" u="none" strike="noStrike" dirty="0" err="1">
                <a:solidFill>
                  <a:srgbClr val="4A3B3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项目功能</a:t>
            </a:r>
            <a:endParaRPr lang="en-US" sz="1100" dirty="0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3E5DDE84-9A33-5E97-F710-9FDB793BD8AB}"/>
              </a:ext>
            </a:extLst>
          </p:cNvPr>
          <p:cNvSpPr/>
          <p:nvPr/>
        </p:nvSpPr>
        <p:spPr>
          <a:xfrm>
            <a:off x="381000" y="1006475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亮点1：</a:t>
            </a:r>
            <a:r>
              <a:rPr lang="en-US" altLang="zh-CN" sz="1600" b="1" dirty="0">
                <a:solidFill>
                  <a:srgbClr val="E6A2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600" dirty="0" err="1">
                <a:solidFill>
                  <a:srgbClr val="E65100"/>
                </a:solidFill>
                <a:latin typeface="Noto Sans SC"/>
                <a:ea typeface="Noto Sans SC"/>
                <a:sym typeface="Noto Sans SC"/>
              </a:rPr>
              <a:t>订单发货与资产自动交割</a:t>
            </a:r>
            <a:endParaRPr lang="en-US" sz="1600" dirty="0">
              <a:solidFill>
                <a:srgbClr val="E6510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总结收获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3302000" cy="3810000"/>
          </a:xfrm>
          <a:prstGeom prst="roundRect">
            <a:avLst>
              <a:gd name="adj" fmla="val 0"/>
            </a:avLst>
          </a:prstGeom>
          <a:solidFill>
            <a:srgbClr val="F9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733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学到了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微服务架构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Nacos服务治理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OpenFeign调用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数据库设计优化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2000" y="1905000"/>
            <a:ext cx="3302000" cy="3810000"/>
          </a:xfrm>
          <a:prstGeom prst="roundRect">
            <a:avLst>
              <a:gd name="adj" fmla="val 0"/>
            </a:avLst>
          </a:prstGeom>
          <a:solidFill>
            <a:srgbClr val="F9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7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286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22733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遇到的问题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26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跨服务数据一致性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分布式事务处理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接口联调超时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82000" y="1905000"/>
            <a:ext cx="3302000" cy="3810000"/>
          </a:xfrm>
          <a:prstGeom prst="roundRect">
            <a:avLst>
              <a:gd name="adj" fmla="val 0"/>
            </a:avLst>
          </a:prstGeom>
          <a:solidFill>
            <a:srgbClr val="F9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8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B3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0" y="2286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144000" y="22733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心得体会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36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理论结合实践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提升解决问题能力</a:t>
            </a:r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FFB3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600" b="0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完整开发流程体验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08000" y="5905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5D40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612</Words>
  <Application>Microsoft Office PowerPoint</Application>
  <PresentationFormat>宽屏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你 我</cp:lastModifiedBy>
  <cp:revision>8</cp:revision>
  <dcterms:modified xsi:type="dcterms:W3CDTF">2026-07-01T06:00:06Z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{"Label":"1","ContentProducer":"001191110102MACQD9K64010000","ProduceID":"7657202278931287270","ReservedCode1":"","ContentPropagator":"","PropagateID":"","ReservedCode2":""}</vt:lpwstr>
  </property>
</Properties>
</file>